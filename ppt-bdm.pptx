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26be805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26be805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26be8052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26be8052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26be8052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26be8052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26be8052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26be8052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26be8052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26be8052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26be8052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26be8052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26be8052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26be8052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26be8052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26be8052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26be8052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26be8052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26be8052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26be8052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26be8052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26be8052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26be8052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26be8052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2075"/>
            <a:ext cx="8520600" cy="19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Optimizing Customer Engagement and Inventory Management at a Small Supermarket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426"/>
              <a:t>Presented by: Wamiq Mushtaq</a:t>
            </a:r>
            <a:endParaRPr sz="2426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426"/>
              <a:t>Roll Number: 22f1001807</a:t>
            </a:r>
            <a:endParaRPr sz="2426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426"/>
              <a:t>BDM Capstone Project</a:t>
            </a:r>
            <a:endParaRPr sz="2426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426"/>
              <a:t>IIT Madras BS Degree Program</a:t>
            </a:r>
            <a:endParaRPr sz="2426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12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275" y="4186944"/>
            <a:ext cx="914400" cy="90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Organization Background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City Mall Holdings</a:t>
            </a:r>
            <a:endParaRPr b="1" sz="1300">
              <a:solidFill>
                <a:schemeClr val="dk1"/>
              </a:solidFill>
            </a:endParaRPr>
          </a:p>
          <a:p>
            <a:pPr indent="-3211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en-GB" sz="1714">
                <a:solidFill>
                  <a:schemeClr val="dk1"/>
                </a:solidFill>
              </a:rPr>
              <a:t>Growing supermarket chain operating in Myanmar</a:t>
            </a:r>
            <a:endParaRPr sz="1714">
              <a:solidFill>
                <a:schemeClr val="dk1"/>
              </a:solidFill>
            </a:endParaRPr>
          </a:p>
          <a:p>
            <a:pPr indent="-321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en-GB" sz="1714">
                <a:solidFill>
                  <a:schemeClr val="dk1"/>
                </a:solidFill>
              </a:rPr>
              <a:t>Three branches located in: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Yangon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Mandalay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Naypyitaw</a:t>
            </a:r>
            <a:endParaRPr sz="1714">
              <a:solidFill>
                <a:schemeClr val="dk1"/>
              </a:solidFill>
            </a:endParaRPr>
          </a:p>
          <a:p>
            <a:pPr indent="-321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en-GB" sz="1714">
                <a:solidFill>
                  <a:schemeClr val="dk1"/>
                </a:solidFill>
              </a:rPr>
              <a:t>Offers diverse product lines: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Food and beverages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Fashion accessories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Electronic accessories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Health and beauty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Home and lifestyle</a:t>
            </a:r>
            <a:endParaRPr sz="1714">
              <a:solidFill>
                <a:schemeClr val="dk1"/>
              </a:solidFill>
            </a:endParaRPr>
          </a:p>
          <a:p>
            <a:pPr indent="-3211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1714">
                <a:solidFill>
                  <a:schemeClr val="dk1"/>
                </a:solidFill>
              </a:rPr>
              <a:t>Sports and travel</a:t>
            </a:r>
            <a:endParaRPr sz="1714">
              <a:solidFill>
                <a:schemeClr val="dk1"/>
              </a:solidFill>
            </a:endParaRPr>
          </a:p>
          <a:p>
            <a:pPr indent="-321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en-GB" sz="1714">
                <a:solidFill>
                  <a:schemeClr val="dk1"/>
                </a:solidFill>
              </a:rPr>
              <a:t>Balanced customer base of members and non-members</a:t>
            </a:r>
            <a:endParaRPr sz="171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Challenges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Customer Engagement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Limited understanding of customer segments and purchasing patterns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Need for targeted engagement strategies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Inventory Management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Irregular sales patterns causing potential stockouts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Inefficient inventory replenishment practices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Payment Method Optimization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Unclear payment preferences across branches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Need to optimize payment processing efficiency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&amp; Analytical Approach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Dataset</a:t>
            </a:r>
            <a:r>
              <a:rPr lang="en-GB" sz="1600">
                <a:solidFill>
                  <a:schemeClr val="dk1"/>
                </a:solidFill>
              </a:rPr>
              <a:t>: 1,000 sales records (Jan-Mar 2019)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17 variables capturing transaction details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No missing values or duplicates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Analytical Methods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b="1" lang="en-GB" sz="1600">
                <a:solidFill>
                  <a:schemeClr val="dk1"/>
                </a:solidFill>
              </a:rPr>
              <a:t>Customer Segmentation</a:t>
            </a:r>
            <a:r>
              <a:rPr lang="en-GB" sz="1600">
                <a:solidFill>
                  <a:schemeClr val="dk1"/>
                </a:solidFill>
              </a:rPr>
              <a:t>: K-means clustering with segment profiling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b="1" lang="en-GB" sz="1600">
                <a:solidFill>
                  <a:schemeClr val="dk1"/>
                </a:solidFill>
              </a:rPr>
              <a:t>Time Series Analysis</a:t>
            </a:r>
            <a:r>
              <a:rPr lang="en-GB" sz="1600">
                <a:solidFill>
                  <a:schemeClr val="dk1"/>
                </a:solidFill>
              </a:rPr>
              <a:t>: Decomposition (trend, seasonality, residuals)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b="1" lang="en-GB" sz="1600">
                <a:solidFill>
                  <a:schemeClr val="dk1"/>
                </a:solidFill>
              </a:rPr>
              <a:t>Payment Utilization</a:t>
            </a:r>
            <a:r>
              <a:rPr lang="en-GB" sz="1600">
                <a:solidFill>
                  <a:schemeClr val="dk1"/>
                </a:solidFill>
              </a:rPr>
              <a:t>: Comparative statistical 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Tools</a:t>
            </a:r>
            <a:r>
              <a:rPr lang="en-GB" sz="1600">
                <a:solidFill>
                  <a:schemeClr val="dk1"/>
                </a:solidFill>
              </a:rPr>
              <a:t>: Python (Pandas, Scikit-learn, Statsmodels)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➔"/>
            </a:pPr>
            <a:r>
              <a:rPr b="1" lang="en-GB" sz="1600">
                <a:solidFill>
                  <a:schemeClr val="dk1"/>
                </a:solidFill>
              </a:rPr>
              <a:t>Limitations: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◆"/>
            </a:pPr>
            <a:r>
              <a:rPr lang="en-GB" sz="1600">
                <a:solidFill>
                  <a:schemeClr val="dk1"/>
                </a:solidFill>
              </a:rPr>
              <a:t>Transaction-based analysis due to absence of unique CustomerIDs in data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1500" y="249875"/>
            <a:ext cx="8810700" cy="6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270"/>
              <a:t>Customer Segmentation</a:t>
            </a:r>
            <a:endParaRPr sz="227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93700" y="999550"/>
            <a:ext cx="8931000" cy="3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Identified 5 distinct transaction segments using K-Means.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Segments differ significantly in spending, quantity, and associated demographics/time.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050" y="2054400"/>
            <a:ext cx="5458949" cy="26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Segmentation - Box Plots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5" y="1219300"/>
            <a:ext cx="7338333" cy="20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75" y="3484900"/>
            <a:ext cx="7476900" cy="15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Segmentation - Who &amp; When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Differences seen in Customer Type (Member/Normal) and Gender associations."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Cluster 3 transactions occur later in the day.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450" y="2261725"/>
            <a:ext cx="4052674" cy="23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4">
            <a:alphaModFix/>
          </a:blip>
          <a:srcRect b="9370" l="0" r="0" t="-9370"/>
          <a:stretch/>
        </p:blipFill>
        <p:spPr>
          <a:xfrm>
            <a:off x="4948550" y="2137325"/>
            <a:ext cx="3883751" cy="23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Inventory Insights: Sales Patterns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Significant daily sales volatility across product lines.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Prominent weekly seasonality observed.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Potential stockout periods identified (Jan 23-24, Feb 10-11 for F&amp;B; Jan 18-19, Feb 5-6 for Electronics).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800" y="2385200"/>
            <a:ext cx="4408000" cy="24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Payment Method Preferences &amp; Value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Overall usage: E-wallet, Cash most frequent (nearly even).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Value: Cash &amp; Credit Card have slightly higher average transaction value.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Regional &amp; Customer Type variations exist." (e.g., Naypyitaw Cash, Yangon E-wallet; Members lean CC)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Member Credit Card transactions have highest avg value (335.88 MMK)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050" y="2696700"/>
            <a:ext cx="3593479" cy="207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750" y="2696698"/>
            <a:ext cx="3338635" cy="20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Recommendations: Customer Engagement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High-Value Members ( Cl 1 ): Tiered loyalty, exclusive offers. KPI: Repeat purchase rate.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High-Spend Normals ( Cl 3 ): Investigate, promote membership value (large baskets). KPI: Conversion rate.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Low-Value Transactions ( Cl 0 ): Impulse items near checkout, bundle deals. KPI: Avg quantity per transaction.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Core Members ( Cl 2 , 4): Maintain engagement, consider gender-specific promos ( Cl 4 ). KPI: Transaction frequency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Recommendations: Inventory &amp; Payment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Inventory Optimization: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Implement seasonality-adjusted ordering (esp. weekends).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Investigate identified zero-sales periods (Crucial step!).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Establish safety stock for frequently stockout products.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KPI: Reduction in stockout incidents.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Payment Optimization: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Conduct cost analysis per payment type (First step!).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Adapt operations to local preferences.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Leverage Member CC usage (contingent on cost/value analysis).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KPI: Transaction efficiency &amp; cost reduction.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Assessment: SWOT Analysis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Strengths: Balanced demographics, Identifiable segments, Consistent weekly patterns.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Weaknesses: Inventory gaps, High daily volatility, Limited historical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Opportunities: Targeted marketing, Improved forecasting, Payment optimization.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Threats: Changing consumer preferences, Continued stockouts (if not addressed), Competition.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Thank You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6031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3771"/>
              <a:t>Analysis provides actionable insights for Customer Engagement, Inventory, and Payment.</a:t>
            </a:r>
            <a:endParaRPr sz="3771"/>
          </a:p>
          <a:p>
            <a:pPr indent="-36031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3771"/>
              <a:t>Implementing recommendations can lead to improved efficiency, customer satisfaction, and revenue.</a:t>
            </a:r>
            <a:endParaRPr sz="377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2743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24"/>
              <a:t>Thank You</a:t>
            </a:r>
            <a:endParaRPr sz="50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